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1" i="0">
                <a:solidFill>
                  <a:srgbClr val="1F6F73"/>
                </a:solidFill>
                <a:latin typeface="Calibri"/>
              </a:rPr>
              <a:t>MVP  ·  PHINITE AGENT GRAPH  ·  NEXT.JS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10058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6000" b="1" i="0">
                <a:solidFill>
                  <a:srgbClr val="2A261F"/>
                </a:solidFill>
                <a:latin typeface="Calibri"/>
              </a:rPr>
              <a:t>Dolfin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0584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0" i="0">
                <a:solidFill>
                  <a:srgbClr val="6B655A"/>
                </a:solidFill>
                <a:latin typeface="Calibri"/>
              </a:rPr>
              <a:t>Your AI Store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9601200" cy="10058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0" i="0">
                <a:solidFill>
                  <a:srgbClr val="6B655A"/>
                </a:solidFill>
                <a:latin typeface="Calibri"/>
              </a:rPr>
              <a:t>A merchant-facing frontend that displays, formats, routes and captures approval.
Phinite reasons. Dolfin never invents a stock figure.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2606040" cy="64008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38928"/>
            <a:ext cx="2606040" cy="438912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/>
            <a:r>
              <a:rPr sz="1300" b="1" i="0">
                <a:solidFill>
                  <a:srgbClr val="1F6F73"/>
                </a:solidFill>
                <a:latin typeface="Calibri"/>
              </a:rPr>
              <a:t>What to restock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5029200"/>
            <a:ext cx="2606040" cy="64008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5138928"/>
            <a:ext cx="2606040" cy="438912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/>
            <a:r>
              <a:rPr sz="1300" b="1" i="0">
                <a:solidFill>
                  <a:srgbClr val="1F6F73"/>
                </a:solidFill>
                <a:latin typeface="Calibri"/>
              </a:rPr>
              <a:t>How much to 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2606040" cy="64008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5138928"/>
            <a:ext cx="2606040" cy="438912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/>
            <a:r>
              <a:rPr sz="1300" b="1" i="0">
                <a:solidFill>
                  <a:srgbClr val="1F6F73"/>
                </a:solidFill>
                <a:latin typeface="Calibri"/>
              </a:rPr>
              <a:t>Who to buy from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5029200"/>
            <a:ext cx="2606040" cy="64008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39" y="5138928"/>
            <a:ext cx="2606040" cy="438912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/>
            <a:r>
              <a:rPr sz="1300" b="1" i="0">
                <a:solidFill>
                  <a:srgbClr val="1F6F73"/>
                </a:solidFill>
                <a:latin typeface="Calibri"/>
              </a:rPr>
              <a:t>Why — then approve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Merchants don’t need another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0" i="0">
                <a:solidFill>
                  <a:srgbClr val="6B655A"/>
                </a:solidFill>
                <a:latin typeface="Calibri"/>
              </a:rPr>
              <a:t>They need someone who connects inventory, demand and suppliers — then 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075688"/>
            <a:ext cx="109728" cy="292608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39112"/>
            <a:ext cx="47548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800" b="1" i="0">
                <a:solidFill>
                  <a:srgbClr val="2A261F"/>
                </a:solidFill>
                <a:latin typeface="Calibri"/>
              </a:rPr>
              <a:t>Stock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0320"/>
            <a:ext cx="4983480" cy="9601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Products run out before anyone notices. Days of supply is invisible until the shelf is empty.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5391" y="2075688"/>
            <a:ext cx="109728" cy="292608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79" y="2039112"/>
            <a:ext cx="47548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800" b="1" i="0">
                <a:solidFill>
                  <a:srgbClr val="2A261F"/>
                </a:solidFill>
                <a:latin typeface="Calibri"/>
              </a:rPr>
              <a:t>Buying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1" y="2560320"/>
            <a:ext cx="4983480" cy="9601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The cheapest vendor is not always the best. Lead time and reliability get ignored.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4224528"/>
            <a:ext cx="109728" cy="292608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87952"/>
            <a:ext cx="47548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800" b="1" i="0">
                <a:solidFill>
                  <a:srgbClr val="2A261F"/>
                </a:solidFill>
                <a:latin typeface="Calibri"/>
              </a:rPr>
              <a:t>Scattered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09160"/>
            <a:ext cx="4983480" cy="9601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Inventory, sales and suppliers live in different places. Nobody joins them 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65391" y="4224528"/>
            <a:ext cx="109728" cy="292608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79" y="4187952"/>
            <a:ext cx="47548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800" b="1" i="0">
                <a:solidFill>
                  <a:srgbClr val="2A261F"/>
                </a:solidFill>
                <a:latin typeface="Calibri"/>
              </a:rPr>
              <a:t>No time to 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1" y="4709160"/>
            <a:ext cx="4983480" cy="9601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Owners spend the morning checking spreadsheets instead of running the store.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An AI employee, not another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0" i="0">
                <a:solidFill>
                  <a:srgbClr val="6B655A"/>
                </a:solidFill>
                <a:latin typeface="Calibri"/>
              </a:rPr>
              <a:t>One merchant-facing manager. Two specialist agents. Human approval before money moves.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697480" cy="7315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6974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200" b="1" i="0">
                <a:solidFill>
                  <a:srgbClr val="1F6F73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26974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800" b="1" i="0">
                <a:solidFill>
                  <a:srgbClr val="2A261F"/>
                </a:solidFill>
                <a:latin typeface="Calibri"/>
              </a:rPr>
              <a:t>Merchant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423160" cy="8686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300" b="0" i="0">
                <a:solidFill>
                  <a:srgbClr val="6B655A"/>
                </a:solidFill>
                <a:latin typeface="Calibri"/>
              </a:rPr>
              <a:t>Asks in plain language
or clicks a demo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97480"/>
            <a:ext cx="36576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000" b="1" i="0">
                <a:solidFill>
                  <a:srgbClr val="1F6F73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74519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74519"/>
            <a:ext cx="2697480" cy="7315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103120"/>
            <a:ext cx="26974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200" b="1" i="0">
                <a:solidFill>
                  <a:srgbClr val="1F6F73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974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800" b="1" i="0">
                <a:solidFill>
                  <a:srgbClr val="2A261F"/>
                </a:solidFill>
                <a:latin typeface="Calibri"/>
              </a:rPr>
              <a:t>Dolfin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26080"/>
            <a:ext cx="2423160" cy="8686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300" b="0" i="0">
                <a:solidFill>
                  <a:srgbClr val="6B655A"/>
                </a:solidFill>
                <a:latin typeface="Calibri"/>
              </a:rPr>
              <a:t>Routes, formats, displays.
Never invents a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97480"/>
            <a:ext cx="36576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000" b="1" i="0">
                <a:solidFill>
                  <a:srgbClr val="1F6F73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874519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874519"/>
            <a:ext cx="2697480" cy="7315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26974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200" b="1" i="0">
                <a:solidFill>
                  <a:srgbClr val="1F6F73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68880"/>
            <a:ext cx="26974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800" b="1" i="0">
                <a:solidFill>
                  <a:srgbClr val="2A261F"/>
                </a:solidFill>
                <a:latin typeface="Calibri"/>
              </a:rPr>
              <a:t>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2423160" cy="8686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300" b="0" i="0">
                <a:solidFill>
                  <a:srgbClr val="6B655A"/>
                </a:solidFill>
                <a:latin typeface="Calibri"/>
              </a:rPr>
              <a:t>Stock, velocity, days of
supply, reorder qty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697480"/>
            <a:ext cx="36576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000" b="1" i="0">
                <a:solidFill>
                  <a:srgbClr val="1F6F73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874519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1874519"/>
            <a:ext cx="2697480" cy="7315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103120"/>
            <a:ext cx="26974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200" b="1" i="0">
                <a:solidFill>
                  <a:srgbClr val="1F6F73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468880"/>
            <a:ext cx="26974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800" b="1" i="0">
                <a:solidFill>
                  <a:srgbClr val="2A261F"/>
                </a:solidFill>
                <a:latin typeface="Calibri"/>
              </a:rPr>
              <a:t>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926080"/>
            <a:ext cx="2423160" cy="8686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300" b="0" i="0">
                <a:solidFill>
                  <a:srgbClr val="6B655A"/>
                </a:solidFill>
                <a:latin typeface="Calibri"/>
              </a:rPr>
              <a:t>Price, lead time,
reliability, PO lines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97680"/>
            <a:ext cx="11201400" cy="1691640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80560"/>
            <a:ext cx="106984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E4F2F1"/>
                </a:solidFill>
                <a:latin typeface="Calibri"/>
              </a:rPr>
              <a:t>CORE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10698480" cy="8229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Detect shortage  →  forecast need  →  compare suppliers  →  prepare a purchase  →  merchant approves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Dolfin displays. Phinite reasons.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109960" cy="141732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Merchant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0515600" cy="6858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Dashboard · Chat · Inventory · Vendors · Procurement
Five featured prompts. Ten more chips on /chat.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39"/>
            <a:ext cx="11109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99231"/>
            <a:ext cx="10515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Dolfin  ·  Next.js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01567"/>
            <a:ext cx="10515600" cy="6858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App Router pages  →  /api/*  →  lib/phinite (client · mapper · errors)
In-memory PO store. server-only credentials. Zod on the way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109960" cy="1417320"/>
          </a:xfrm>
          <a:prstGeom prst="roundRect">
            <a:avLst>
              <a:gd name="adj" fmla="val 8000"/>
            </a:avLst>
          </a:prstGeom>
          <a:solidFill>
            <a:srgbClr val="1A1713"/>
          </a:solidFill>
          <a:ln w="12700">
            <a:solidFill>
              <a:srgbClr val="1A17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53712"/>
            <a:ext cx="10515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E4F2F1"/>
                </a:solidFill>
                <a:latin typeface="Calibri"/>
              </a:rPr>
              <a:t>Phinite  ·  app.phinite.ai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56048"/>
            <a:ext cx="10515600" cy="6858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C8C0B4"/>
                </a:solidFill>
                <a:latin typeface="Calibri"/>
              </a:rPr>
              <a:t>POST /ai/trigger/start/{ws}/{trig}/{env}   then poll status every 3s
Store Manager graph: Orchestrator → Inventory + Vendor specialists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PHINITE STORE MANAGER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One trigger. Three nodes. Two specialists.</a:t>
            </a:r>
          </a:p>
        </p:txBody>
      </p:sp>
      <p:pic>
        <p:nvPicPr>
          <p:cNvPr id="5" name="Picture 4" descr="store-manager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7452360" cy="5257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051560"/>
            <a:ext cx="370332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234440"/>
            <a:ext cx="33832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1" i="0">
                <a:solidFill>
                  <a:srgbClr val="1F6F73"/>
                </a:solidFill>
                <a:latin typeface="Calibri"/>
              </a:rPr>
              <a:t>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3832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383280" cy="8686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0" i="0">
                <a:solidFill>
                  <a:srgbClr val="6B655A"/>
                </a:solidFill>
                <a:latin typeface="Calibri"/>
              </a:rPr>
              <a:t>Routes the merchant message. Audit log + action centre.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063240"/>
            <a:ext cx="33832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Inventory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383280" cy="8686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0" i="0">
                <a:solidFill>
                  <a:srgbClr val="6B655A"/>
                </a:solidFill>
                <a:latin typeface="Calibri"/>
              </a:rPr>
              <a:t>Stock, velocity, days of supply, reorder, dead stock.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434840"/>
            <a:ext cx="33832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Vendor &amp; Procurement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754880"/>
            <a:ext cx="3383280" cy="8686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0" i="0">
                <a:solidFill>
                  <a:srgbClr val="6B655A"/>
                </a:solidFill>
                <a:latin typeface="Calibri"/>
              </a:rPr>
              <a:t>Scores, price changes, alternates, PO lines, 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THE DATA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No business dataset lives in Dolfin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0" i="0">
                <a:solidFill>
                  <a:srgbClr val="6B655A"/>
                </a:solidFill>
                <a:latin typeface="Calibri"/>
              </a:rPr>
              <a:t>Inventory, sales, vendors, prices and recommendations come only from the Phinite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50292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Unconfigured = empty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029200" cy="10058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Every screen shows “connect your Store Manager”. Placeholder numbers would misrepresent a real store.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73736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993392"/>
            <a:ext cx="50292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Missing =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468880"/>
            <a:ext cx="5029200" cy="10058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If the graph omits days of supply, the UI says it does not have that figure. Never zero. Never a local formula.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42232"/>
            <a:ext cx="50292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Hardcoded in Phinite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5029200" cy="10058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The demo catalogue lives inside the graph (tools / session vars), not in Next.js. tests/fixtures.ts is test-only.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88620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4142232"/>
            <a:ext cx="50292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Mapper is the seam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617720"/>
            <a:ext cx="5029200" cy="10058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lib/phinite/mapper.ts is the only file that knows inventory_data, po_lines, actions. Pages never see Phinite shapes.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WIRE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What the graph actually returns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676656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008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Session variables the mapper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30936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inventory_data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2"/>
            <a:ext cx="630936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SKU, on-hand, ROP, velocity, days of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630936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reorder_recommendation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630936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Qty, urgency, justification (often a JSON string)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630936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demand_forecast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630936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30 / 60 / 90 day units by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03904"/>
            <a:ext cx="630936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vendor_data / vendor_summary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59936"/>
            <a:ext cx="630936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Reliability, lead time, products supplied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62272"/>
            <a:ext cx="630936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po_lines + alternates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18304"/>
            <a:ext cx="630936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Chosen supplier and trade-off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630936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actions + action_summary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76672"/>
            <a:ext cx="630936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ACT013… pending approval, rupee totals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188720"/>
            <a:ext cx="4206240" cy="5029200"/>
          </a:xfrm>
          <a:prstGeom prst="roundRect">
            <a:avLst>
              <a:gd name="adj" fmla="val 8000"/>
            </a:avLst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1417320"/>
            <a:ext cx="379476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1" i="0">
                <a:solidFill>
                  <a:srgbClr val="E4F2F1"/>
                </a:solidFill>
                <a:latin typeface="Calibri"/>
              </a:rPr>
              <a:t>Transport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1874519"/>
            <a:ext cx="3794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Background mode (default)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POST …/trigger/start/…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GET  …/trigger/status/…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Poll every 3s, cap 180s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Runs take 15–65 seconds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Environment is case-sensitive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development ≠ DEVELOPMENT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wrong case 200s the start,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then fails on the first poll.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Bearer key is server-only.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 NEXT_PUBLIC_.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AGENT 1  ·  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What do I need — and how soon?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12064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66344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1" i="0">
                <a:solidFill>
                  <a:srgbClr val="1F6F73"/>
                </a:solidFill>
                <a:latin typeface="Calibri"/>
              </a:rPr>
              <a:t>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66344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0" i="0">
                <a:solidFill>
                  <a:srgbClr val="2A261F"/>
                </a:solidFill>
                <a:latin typeface="Calibri"/>
              </a:rPr>
              <a:t>▸  Current stock and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66344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0" i="0">
                <a:solidFill>
                  <a:srgbClr val="2A261F"/>
                </a:solidFill>
                <a:latin typeface="Calibri"/>
              </a:rPr>
              <a:t>▸  Low-stock / reorder-point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466344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0" i="0">
                <a:solidFill>
                  <a:srgbClr val="2A261F"/>
                </a:solidFill>
                <a:latin typeface="Calibri"/>
              </a:rPr>
              <a:t>▸  Stock-out prediction (days of supply)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466344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0" i="0">
                <a:solidFill>
                  <a:srgbClr val="2A261F"/>
                </a:solidFill>
                <a:latin typeface="Calibri"/>
              </a:rPr>
              <a:t>▸  Demand forecast (30 / 60 / 90d)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466344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0" i="0">
                <a:solidFill>
                  <a:srgbClr val="2A261F"/>
                </a:solidFill>
                <a:latin typeface="Calibri"/>
              </a:rPr>
              <a:t>▸  Dead-stock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466344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0" i="0">
                <a:solidFill>
                  <a:srgbClr val="2A261F"/>
                </a:solidFill>
                <a:latin typeface="Calibri"/>
              </a:rPr>
              <a:t>▸  Recommended reorder quantity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5760720" cy="4983480"/>
          </a:xfrm>
          <a:prstGeom prst="roundRect">
            <a:avLst>
              <a:gd name="adj" fmla="val 8000"/>
            </a:avLst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17320"/>
            <a:ext cx="530352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E4F2F1"/>
                </a:solidFill>
                <a:latin typeface="Calibri"/>
              </a:rPr>
              <a:t>LIVE GRAPH  · 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83080"/>
            <a:ext cx="53035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Tata Salt 1kg   P001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40280"/>
            <a:ext cx="53035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C8C0B4"/>
                </a:solidFill>
                <a:latin typeface="Calibri"/>
              </a:rPr>
              <a:t>18 on hand   ·   ROP 40   ·   14 units / 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88036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99232"/>
            <a:ext cx="16459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1.29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520440"/>
            <a:ext cx="164592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100" b="0" i="0">
                <a:solidFill>
                  <a:srgbClr val="9A9387"/>
                </a:solidFill>
                <a:latin typeface="Calibri"/>
              </a:rPr>
              <a:t>days of supply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88036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999232"/>
            <a:ext cx="16459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520440"/>
            <a:ext cx="164592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100" b="0" i="0">
                <a:solidFill>
                  <a:srgbClr val="9A9387"/>
                </a:solidFill>
                <a:latin typeface="Calibri"/>
              </a:rPr>
              <a:t>recommended qty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2880360"/>
            <a:ext cx="1645920" cy="1234440"/>
          </a:xfrm>
          <a:prstGeom prst="roundRect">
            <a:avLst>
              <a:gd name="adj" fmla="val 8000"/>
            </a:avLst>
          </a:prstGeom>
          <a:solidFill>
            <a:srgbClr val="2A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2999232"/>
            <a:ext cx="16459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520440"/>
            <a:ext cx="164592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100" b="0" i="0">
                <a:solidFill>
                  <a:srgbClr val="9A9387"/>
                </a:solidFill>
                <a:latin typeface="Calibri"/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343400"/>
            <a:ext cx="5303520" cy="1463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C8C0B4"/>
                </a:solidFill>
                <a:latin typeface="Calibri"/>
              </a:rPr>
              <a:t>Also critical today: Fortune Oil (12 / 1.33d),
Maggi Noodles (20 / 2.5d), Thums Up (9 / 1.12d).
Amul Taaza Milk is LOW at 8 units.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AGENT 2  ·  VENDOR INTELLIGENCE &amp;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Who should I buy from — and why not the cheapest?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1556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38404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25880"/>
            <a:ext cx="16459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UNIT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13716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325880"/>
            <a:ext cx="16459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325880"/>
            <a:ext cx="22860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37360"/>
            <a:ext cx="10607040" cy="13716"/>
          </a:xfrm>
          <a:prstGeom prst="rect">
            <a:avLst/>
          </a:prstGeom>
          <a:solidFill>
            <a:srgbClr val="E4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47088"/>
            <a:ext cx="10789920" cy="658368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38404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V001  Metro Wholesale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₹23.50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13716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2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92024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920240"/>
            <a:ext cx="22860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Preferred for Tata Salt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651760"/>
            <a:ext cx="38404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V002  Shree Balaji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5176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₹248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51760"/>
            <a:ext cx="13716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3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65176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91%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651760"/>
            <a:ext cx="22860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Atta, milk, oil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383280"/>
            <a:ext cx="38404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V003  Bharat FMCG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38328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₹33.50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383280"/>
            <a:ext cx="13716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4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38328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383280"/>
            <a:ext cx="22860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Thums Up, Maggi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38404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V004  CityMart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11480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₹24.00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114800"/>
            <a:ext cx="13716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3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11480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85%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114800"/>
            <a:ext cx="22860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Alternate — slower, dearer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Recommendation is a trade-off, not a min(price). Metro wins Tata Salt on landed cost + 2-day lead + 94% reliability.
CityMart is cheaper on some lines and still loses — slower, higher defect, weaker on-time.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THE HERO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One question. Two agents. One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E4F2F1"/>
                </a:solidFill>
                <a:latin typeface="Calibri"/>
              </a:rPr>
              <a:t>MERCHANT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“What products do I need to restock today?”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14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200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1 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200400" cy="11887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0" i="0">
                <a:solidFill>
                  <a:srgbClr val="2A261F"/>
                </a:solidFill>
                <a:latin typeface="Calibri"/>
              </a:rPr>
              <a:t>Tata Salt · 18 on hand
1.29 days left · order 124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697480"/>
            <a:ext cx="3200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2  Vendor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54680"/>
            <a:ext cx="3200400" cy="11887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0" i="0">
                <a:solidFill>
                  <a:srgbClr val="2A261F"/>
                </a:solidFill>
                <a:latin typeface="Calibri"/>
              </a:rPr>
              <a:t>Metro Wholesale
₹23.50 · 2 days · 94%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514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697480"/>
            <a:ext cx="3200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3  Dolfin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200400" cy="11887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0" i="0">
                <a:solidFill>
                  <a:srgbClr val="2A261F"/>
                </a:solidFill>
                <a:latin typeface="Calibri"/>
              </a:rPr>
              <a:t>PO line ready
₹2,914 · pending 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9204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77724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E4F2F1"/>
                </a:solidFill>
                <a:latin typeface="Calibri"/>
              </a:rPr>
              <a:t>APPROVE  →  PO-10024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0704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C8C0B4"/>
                </a:solidFill>
                <a:latin typeface="Calibri"/>
              </a:rPr>
              <a:t>Dolfin re-reads the recommendation from Phinite and requires the graph to acknowledge before recording the order. Nothing is approved locally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MERCHANT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Five cards a demo should start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91440" cy="89611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60704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What needs restocking today?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1060704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0" i="0">
                <a:solidFill>
                  <a:srgbClr val="6B655A"/>
                </a:solidFill>
                <a:latin typeface="Calibri"/>
              </a:rPr>
              <a:t>Find products that need attention right now.   →   What products do I need to restock today?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76272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76272"/>
            <a:ext cx="91440" cy="89611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67712"/>
            <a:ext cx="1060704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What will run out next week?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1060704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0" i="0">
                <a:solidFill>
                  <a:srgbClr val="6B655A"/>
                </a:solidFill>
                <a:latin typeface="Calibri"/>
              </a:rPr>
              <a:t>Predict upcoming stock-outs before they happen.   →   Which products are likely to run out in the next 7 days?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63824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63824"/>
            <a:ext cx="91440" cy="89611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55264"/>
            <a:ext cx="1060704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Who should I buy from?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47872"/>
            <a:ext cx="1060704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0" i="0">
                <a:solidFill>
                  <a:srgbClr val="6B655A"/>
                </a:solidFill>
                <a:latin typeface="Calibri"/>
              </a:rPr>
              <a:t>Compare vendors on price, reliability and delivery time.   →   Which vendor gives me the best combination of price and reliability?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51376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151376"/>
            <a:ext cx="91440" cy="89611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42816"/>
            <a:ext cx="1060704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Prepare my next purchase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35424"/>
            <a:ext cx="1060704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0" i="0">
                <a:solidFill>
                  <a:srgbClr val="6B655A"/>
                </a:solidFill>
                <a:latin typeface="Calibri"/>
              </a:rPr>
              <a:t>Turn inventory needs into an actionable procurement plan.   →   Prepare a purchase order for the most urgent stock-outs.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38928"/>
            <a:ext cx="111556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138928"/>
            <a:ext cx="91440" cy="896112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30368"/>
            <a:ext cx="1060704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2A261F"/>
                </a:solidFill>
                <a:latin typeface="Calibri"/>
              </a:rPr>
              <a:t>Give me my morning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22976"/>
            <a:ext cx="1060704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200" b="0" i="0">
                <a:solidFill>
                  <a:srgbClr val="6B655A"/>
                </a:solidFill>
                <a:latin typeface="Calibri"/>
              </a:rPr>
              <a:t>Tell me what needs my attention today.   →   Give me my morning store briefing.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FULL DEMO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Fifteen prompts that exercise the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Secondary chips on /chat — plus the five featured messages.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What should I reorder this week?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5448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755648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Why do you think I need to reorder Tata Salt?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24328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How much Tata Salt should I order?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42316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624328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Who should I buy Tata Salt from?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39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93007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Find the best vendor for Aashirvaad Atta.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291839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493007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Can I get a cheaper supplier for Fortune Sunflower Oil?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6052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61688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Have any of my suppliers increased their prices recently?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16052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361688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Show me my pending procurement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Create a purchase recommendation for the products that need urgent restocking.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502920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5230368"/>
            <a:ext cx="521208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2A261F"/>
                </a:solidFill>
                <a:latin typeface="Calibri"/>
              </a:rPr>
              <a:t>What inventory is sitting unsold in my store?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A three-minute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123444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16152"/>
            <a:ext cx="969264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1" i="0">
                <a:solidFill>
                  <a:srgbClr val="2A261F"/>
                </a:solidFill>
                <a:latin typeface="Calibri"/>
              </a:rPr>
              <a:t>Morning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17904"/>
            <a:ext cx="969264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Open / and click “Give me my morning briefing.” Dolfin summarises what needs attention.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123444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969264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1" i="0">
                <a:solidFill>
                  <a:srgbClr val="2A261F"/>
                </a:solidFill>
                <a:latin typeface="Calibri"/>
              </a:rPr>
              <a:t>Restock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40864"/>
            <a:ext cx="969264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“What needs restocking today?” — Tata Salt, Fortune Oil, Maggi, Thums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16352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80944"/>
            <a:ext cx="123444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62072"/>
            <a:ext cx="969264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1" i="0">
                <a:solidFill>
                  <a:srgbClr val="2A261F"/>
                </a:solidFill>
                <a:latin typeface="Calibri"/>
              </a:rPr>
              <a:t>Why Tata Salt?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63824"/>
            <a:ext cx="969264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“Why do you think I need to reorder Tata Salt?” — 18 vs ROP 40, 1.29 days, velocity 14.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39312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03904"/>
            <a:ext cx="123444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685032"/>
            <a:ext cx="969264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1" i="0">
                <a:solidFill>
                  <a:srgbClr val="2A261F"/>
                </a:solidFill>
                <a:latin typeface="Calibri"/>
              </a:rPr>
              <a:t>Who to buy 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986784"/>
            <a:ext cx="969264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Vendor card: Metro vs CityMart. Not the cheapest — the trade-off.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62272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26864"/>
            <a:ext cx="123444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02:15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507992"/>
            <a:ext cx="969264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1" i="0">
                <a:solidFill>
                  <a:srgbClr val="2A261F"/>
                </a:solidFill>
                <a:latin typeface="Calibri"/>
              </a:rPr>
              <a:t>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09744"/>
            <a:ext cx="969264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/procurement → Review → Approve. Graph must ack. PO-10024 appears.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85232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449824"/>
            <a:ext cx="123444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02:45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330952"/>
            <a:ext cx="969264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500" b="1" i="0">
                <a:solidFill>
                  <a:srgbClr val="2A261F"/>
                </a:solidFill>
                <a:latin typeface="Calibri"/>
              </a:rPr>
              <a:t>Dead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632704"/>
            <a:ext cx="969264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300" b="0" i="0">
                <a:solidFill>
                  <a:srgbClr val="6B655A"/>
                </a:solidFill>
                <a:latin typeface="Calibri"/>
              </a:rPr>
              <a:t>“What inventory is sitting unsold?” — clearance, not replenishment.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WHAT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Frontend + adapter, not the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2461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1F6F73"/>
                </a:solidFill>
                <a:latin typeface="Calibri"/>
              </a:rPr>
              <a:t>In this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Next.js 16 / React 19 / Tailwind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Six merchant surfaces + six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Phinite adapter (start / poll / map)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Approval state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52 Vitest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3776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Demo prompt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3444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32461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1F6F73"/>
                </a:solidFill>
                <a:latin typeface="Calibri"/>
              </a:rPr>
              <a:t>In Phinite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Store Manager Agent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Inventory + vendor specialists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8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Hardcoded demo catalogue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39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Action centre (ACT013…)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4340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Background trigger IAd_800fK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3776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Workspace 1TFgc2b / development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23444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417320"/>
            <a:ext cx="32461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1" i="0">
                <a:solidFill>
                  <a:srgbClr val="1F6F73"/>
                </a:solidFill>
                <a:latin typeface="Calibri"/>
              </a:rPr>
              <a:t>Deliberately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96596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No ERP or accounting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6032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No auth platform yet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5468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No supplier 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49039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No Dolfin-side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34340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POs are in-memory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937760"/>
            <a:ext cx="324612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2A261F"/>
                </a:solidFill>
                <a:latin typeface="Calibri"/>
              </a:rPr>
              <a:t>▸  LLM orchestration stays in Phinite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56032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2800" b="1" i="0">
                <a:solidFill>
                  <a:srgbClr val="2A261F"/>
                </a:solidFill>
                <a:latin typeface="Calibri"/>
              </a:rPr>
              <a:t>Prove the graph, not just the happy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15568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57200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71600"/>
            <a:ext cx="502920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WHAT GOOD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371600"/>
            <a:ext cx="164592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100" b="1" i="0">
                <a:solidFill>
                  <a:srgbClr val="1F6F73"/>
                </a:solidFill>
                <a:latin typeface="Calibri"/>
              </a:rPr>
              <a:t>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09928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9260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56692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Correct specialist(s) selected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78308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≥ 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41448"/>
            <a:ext cx="29260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Inventory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441448"/>
            <a:ext cx="56692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Stock / reorder figures match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41448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≥ 95%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26663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99815"/>
            <a:ext cx="29260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Vendor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099815"/>
            <a:ext cx="56692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Recommendation is explainable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099815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≥ 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58184"/>
            <a:ext cx="29260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Cross-agent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758184"/>
            <a:ext cx="56692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Inventory + vendor context combined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758184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≥ 85%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16552"/>
            <a:ext cx="29260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Hallucination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416552"/>
            <a:ext cx="56692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No invented business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416552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≥ 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29260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2A261F"/>
                </a:solidFill>
                <a:latin typeface="Calibri"/>
              </a:rPr>
              <a:t>Action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074920"/>
            <a:ext cx="566928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0" i="0">
                <a:solidFill>
                  <a:srgbClr val="6B655A"/>
                </a:solidFill>
                <a:latin typeface="Calibri"/>
              </a:rPr>
              <a:t>Purchase requires merchant 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5074920"/>
            <a:ext cx="164592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400" b="1" i="0">
                <a:solidFill>
                  <a:srgbClr val="1F6F73"/>
                </a:solidFill>
                <a:latin typeface="Calibri"/>
              </a:rPr>
              <a:t>FROM “WHAT’S LOW?” TO “ORDER IT.”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0058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5600" b="1" i="0">
                <a:solidFill>
                  <a:srgbClr val="2A261F"/>
                </a:solidFill>
                <a:latin typeface="Calibri"/>
              </a:rPr>
              <a:t>Dolfin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515600" cy="9144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600" b="0" i="0">
                <a:solidFill>
                  <a:srgbClr val="6B655A"/>
                </a:solidFill>
                <a:latin typeface="Calibri"/>
              </a:rPr>
              <a:t>Inventory intelligence + vendor intelligence + human approval —
connected in one Phinite Agent Graph, presented by a Next.js app that holds no store of its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0916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28032"/>
            <a:ext cx="219456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1F6F73"/>
                </a:solidFill>
                <a:latin typeface="Calibri"/>
              </a:rPr>
              <a:t>Inventory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470916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4828032"/>
            <a:ext cx="219456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1F6F73"/>
                </a:solidFill>
                <a:latin typeface="Calibri"/>
              </a:rPr>
              <a:t>Vendor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709160"/>
            <a:ext cx="2194560" cy="64008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 w="12700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828032"/>
            <a:ext cx="2194560" cy="4114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/>
            <a:r>
              <a:rPr sz="1400" b="1" i="0">
                <a:solidFill>
                  <a:srgbClr val="1F6F73"/>
                </a:solidFill>
                <a:latin typeface="Calibri"/>
              </a:rPr>
              <a:t>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A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11112"/>
            <a:ext cx="73152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/>
            <a:r>
              <a:rPr sz="1000" b="0" i="0">
                <a:solidFill>
                  <a:srgbClr val="C8C0B4"/>
                </a:solidFill>
                <a:latin typeface="Calibri"/>
              </a:rPr>
              <a:t>DOLFIN  ·  TECHNICAL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11112"/>
            <a:ext cx="1371600" cy="219456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/>
            <a:r>
              <a:rPr sz="1000" b="0" i="0">
                <a:solidFill>
                  <a:srgbClr val="C8C0B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